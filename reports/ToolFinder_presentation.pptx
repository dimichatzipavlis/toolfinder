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82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llama3.2 in-context accuracy</c:v>
                </c:pt>
              </c:strCache>
            </c:strRef>
          </c:tx>
          <c:spPr>
            <a:solidFill>
              <a:srgbClr val="E1812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l-G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5 tools</c:v>
                </c:pt>
                <c:pt idx="1">
                  <c:v>15 tools</c:v>
                </c:pt>
                <c:pt idx="2">
                  <c:v>30 tools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</c:v>
                </c:pt>
                <c:pt idx="1">
                  <c:v>0.29899999999999999</c:v>
                </c:pt>
                <c:pt idx="2">
                  <c:v>0.17399999999999999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10-478B-A8EB-89BCC6C320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A (bi-encoder)</c:v>
                </c:pt>
              </c:strCache>
            </c:strRef>
          </c:tx>
          <c:spPr>
            <a:solidFill>
              <a:srgbClr val="4878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l-G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Regime 1</c:v>
                </c:pt>
                <c:pt idx="1">
                  <c:v>Regime 2</c:v>
                </c:pt>
                <c:pt idx="2">
                  <c:v>Regime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0.98799999999999999</c:v>
                </c:pt>
                <c:pt idx="1">
                  <c:v>0.90900000000000003</c:v>
                </c:pt>
                <c:pt idx="2">
                  <c:v>0.66700000000000004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CA-4159-85E2-6826A39876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B (+ rerank)</c:v>
                </c:pt>
              </c:strCache>
            </c:strRef>
          </c:tx>
          <c:spPr>
            <a:solidFill>
              <a:srgbClr val="E1812C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l-G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Regime 1</c:v>
                </c:pt>
                <c:pt idx="1">
                  <c:v>Regime 2</c:v>
                </c:pt>
                <c:pt idx="2">
                  <c:v>Regime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0.94399999999999995</c:v>
                </c:pt>
                <c:pt idx="1">
                  <c:v>0.86699999999999999</c:v>
                </c:pt>
                <c:pt idx="2">
                  <c:v>0.63200000000000001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CA-4159-85E2-6826A39876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525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0" y="5024628"/>
            <a:ext cx="9144000" cy="118872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ToolFinder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39572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for Open-Set MCP Tool Routing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852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leakage-controlled benchmark and a trained two-model comparison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Dimitris Chatzipavlis · Machine &amp; Deep Learning · Supervisor: Sp. Georgakopoulos · June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selection is the bottleneck — and a safety boundary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655064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361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bloat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88720" y="18470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every MCP schema fills the window before reasoning begins.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395728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2496312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23774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 the middle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88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APIs collide in-context, raising tool-selection errors.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236976"/>
            <a:ext cx="384048" cy="384048"/>
          </a:xfrm>
          <a:prstGeom prst="ellipse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333756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186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models break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188720" y="35295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 local models emit malformed calls under long-prompt pressure.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554480"/>
            <a:ext cx="3200400" cy="2331720"/>
          </a:xfrm>
          <a:prstGeom prst="rect">
            <a:avLst/>
          </a:prstGeom>
          <a:solidFill>
            <a:srgbClr val="1B2A4A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9" name="Text 14"/>
          <p:cNvSpPr/>
          <p:nvPr/>
        </p:nvSpPr>
        <p:spPr>
          <a:xfrm>
            <a:off x="5715000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decides whether a local model can use a 500-tool catalog at all — and a wrong route to a destructive tool turns a retrieval error into a harmful action.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4114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tool selection as open-set retrieval: unseen phrasings, unseen tools, new servers, out-of-scope requests, and adversarial descriptions.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84708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add evaluation rigor, not a new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3840480" cy="4572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8" name="Text 6"/>
          <p:cNvSpPr/>
          <p:nvPr/>
        </p:nvSpPr>
        <p:spPr>
          <a:xfrm>
            <a:off x="7772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/ generation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MRKL — modular router framing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Gorilla — API-call gen +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ToolLLM — 16k API tool use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Toolformer — self-supervised calls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3840480" cy="4572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480060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(shipped)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2103120"/>
            <a:ext cx="35204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semantic-router (Aurelio Labs)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tool retriever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LlamaIndex object retrievers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function-retrieval cookbook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8046720" cy="64008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 is a leakage-controlled benchmark + a controlled comparison of what these ship as defaults — not architectural novelty.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613916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6139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benchmark — and why naive splits lie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437555" y="1408176"/>
            <a:ext cx="438369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pic>
        <p:nvPicPr>
          <p:cNvPr id="7" name="Image 0" descr="C:\Users\dimit\Desktop\GEORGAML\ToolFinder\experiments\results\figures\fig_leakage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419" y="1463040"/>
            <a:ext cx="4273962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15087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1,695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real intents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2468880" y="15087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574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real tool schemas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3566160" cy="1737360"/>
          </a:xfrm>
          <a:prstGeom prst="rect">
            <a:avLst/>
          </a:prstGeom>
          <a:solidFill>
            <a:srgbClr val="1B2A4A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Text 8"/>
          <p:cNvSpPr/>
          <p:nvPr/>
        </p:nvSpPr>
        <p:spPr>
          <a:xfrm>
            <a:off x="822960" y="26974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 Recall@1</a:t>
            </a:r>
            <a:endParaRPr lang="en-US" sz="22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from a 1-NN lookup over training queries alone — no model, no schema.</a:t>
            </a:r>
            <a:endParaRPr lang="en-US" sz="2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</a:rPr>
              <a:t>The original random split answered itself.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80560" y="4297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follow a scenario×template grammar; random row splits scatter paraphrases across train/test.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Leakage-controlled evaluation, enforced in CI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8" name="Text 6"/>
          <p:cNvSpPr/>
          <p:nvPr/>
        </p:nvSpPr>
        <p:spPr>
          <a:xfrm>
            <a:off x="8229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  </a:t>
            </a:r>
            <a:r>
              <a:rPr lang="en-US" sz="1400" b="1" dirty="0">
                <a:solidFill>
                  <a:srgbClr val="1B2A4A"/>
                </a:solidFill>
              </a:rPr>
              <a:t>Unseen 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Scenario-grouped split (in-grammar upper bound)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55448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73152" cy="114300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4937760" y="16642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1b  </a:t>
            </a:r>
            <a:r>
              <a:rPr lang="en-US" sz="1400" b="1" dirty="0">
                <a:solidFill>
                  <a:srgbClr val="1B2A4A"/>
                </a:solidFill>
              </a:rPr>
              <a:t>Template-disjoint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05740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AND scenarios held out — the real control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5" name="Shape 13"/>
          <p:cNvSpPr/>
          <p:nvPr/>
        </p:nvSpPr>
        <p:spPr>
          <a:xfrm>
            <a:off x="6400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6" name="Text 14"/>
          <p:cNvSpPr/>
          <p:nvPr/>
        </p:nvSpPr>
        <p:spPr>
          <a:xfrm>
            <a:off x="8229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2  </a:t>
            </a:r>
            <a:r>
              <a:rPr lang="en-US" sz="1400" b="1" dirty="0">
                <a:solidFill>
                  <a:srgbClr val="1B2A4A"/>
                </a:solidFill>
              </a:rPr>
              <a:t>Unseen tools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tools never trained on; ranked vs full catalog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9" name="Shape 17"/>
          <p:cNvSpPr/>
          <p:nvPr/>
        </p:nvSpPr>
        <p:spPr>
          <a:xfrm>
            <a:off x="4754880" y="2880360"/>
            <a:ext cx="73152" cy="11430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20" name="Text 18"/>
          <p:cNvSpPr/>
          <p:nvPr/>
        </p:nvSpPr>
        <p:spPr>
          <a:xfrm>
            <a:off x="493776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Regime 3  </a:t>
            </a:r>
            <a:r>
              <a:rPr lang="en-US" sz="1400" b="1" dirty="0">
                <a:solidFill>
                  <a:srgbClr val="1B2A4A"/>
                </a:solidFill>
              </a:rPr>
              <a:t>Unseen servers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33832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queries, 574-tool corpus; training stays GitHub-only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hygiene is a failing CI test (tests/test_split_hygiene.py) — no scenario, template, or tool may cross buckets.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924812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924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trained architectures,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3840480" cy="566928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A  </a:t>
            </a: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Bi-encoder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MiniLM-L6 (22M), MNRL loss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No-duplicates batch sampler (fixes in-batch false negatives)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query + schema independently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 / MPNet trained as capacity ablation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38404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3840480" cy="566928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B  </a:t>
            </a: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Cross-encoder reranker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2240280"/>
            <a:ext cx="3474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ms-marco-MiniLM-L6 (22M), BCE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positive : 4 mined hard negatives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cross-attention over (query, schema)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Reranks bi-encoder top-10 — 10 passes/query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seeds {13, 42, 1337} · selection on validation MRR@10 · same evaluation code path for every system.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458468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4584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dominates every regime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85216" y="1680564"/>
            <a:ext cx="5184648" cy="23447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pic>
        <p:nvPicPr>
          <p:cNvPr id="7" name="Image 0" descr="C:\Users\dimit\Desktop\GEORGAML\ToolFinder\experiments\results\figures\fig_main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5428"/>
            <a:ext cx="5074920" cy="223499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4813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9" name="Shape 6"/>
          <p:cNvSpPr/>
          <p:nvPr/>
        </p:nvSpPr>
        <p:spPr>
          <a:xfrm>
            <a:off x="5943600" y="14813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0" name="Text 7"/>
          <p:cNvSpPr/>
          <p:nvPr/>
        </p:nvSpPr>
        <p:spPr>
          <a:xfrm>
            <a:off x="6108192" y="15910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+0.42 R@1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108192" y="21579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over BM25, regime 1 (p ≤ 0.0001)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2852928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3" name="Shape 10"/>
          <p:cNvSpPr/>
          <p:nvPr/>
        </p:nvSpPr>
        <p:spPr>
          <a:xfrm>
            <a:off x="5943600" y="2852928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4" name="Text 11"/>
          <p:cNvSpPr/>
          <p:nvPr/>
        </p:nvSpPr>
        <p:spPr>
          <a:xfrm>
            <a:off x="6108192" y="29626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0.33 → 0.99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108192" y="352958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→ fine-tuned MiniLM R@1 (capacity ≪ training)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4315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 / 0.91 / 0.67 R@1 across regimes 1/2/3 vs 0.57 / 0.76 / 0.49 for BM25. Frozen MiniLM (0.33) loses to BM25.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2313432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route at all? Router Vs giving the LLM every tool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8" name="Text 6"/>
          <p:cNvSpPr/>
          <p:nvPr/>
        </p:nvSpPr>
        <p:spPr>
          <a:xfrm>
            <a:off x="804672" y="1664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vs 0.17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04672" y="22311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router vs llama3.2 reading all tools in-context — same 30-tool test set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907792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640080" y="2907792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804672" y="30175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 → 4.6 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" y="3584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time per query as the catalog grows 5→30 tools (router: ~0.5 ms, and flat)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554480"/>
            <a:ext cx="2880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graphicFrame>
        <p:nvGraphicFramePr>
          <p:cNvPr id="15" name="Chart 0"/>
          <p:cNvGraphicFramePr/>
          <p:nvPr/>
        </p:nvGraphicFramePr>
        <p:xfrm>
          <a:off x="5943600" y="1664208"/>
          <a:ext cx="26974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 13"/>
          <p:cNvSpPr/>
          <p:nvPr/>
        </p:nvSpPr>
        <p:spPr>
          <a:xfrm>
            <a:off x="5852160" y="42611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the model the whole catalog gets worse AND slower as it grows; retrieval stays accurate and fast — the case for separating selection from execution.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130302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303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 survives the leakage control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42816" y="1898836"/>
            <a:ext cx="4681728" cy="2054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pic>
        <p:nvPicPr>
          <p:cNvPr id="7" name="Image 0" descr="C:\Users\dimit\Desktop\GEORGAML\ToolFinder\experiments\results\figures\fig_loss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953700"/>
            <a:ext cx="4572000" cy="194476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54480"/>
            <a:ext cx="32918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9" name="Shape 6"/>
          <p:cNvSpPr/>
          <p:nvPr/>
        </p:nvSpPr>
        <p:spPr>
          <a:xfrm>
            <a:off x="640080" y="155448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0" name="Text 7"/>
          <p:cNvSpPr/>
          <p:nvPr/>
        </p:nvSpPr>
        <p:spPr>
          <a:xfrm>
            <a:off x="804672" y="1664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0.958 vs 0.650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2311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 MiniLM vs 1-NN leakage probe on the template-disjoint split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1's 1.000 was an in-grammar upper bound.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on regime 1b (templates + scenarios both unseen) still gives 0.958 — the win is real, not leaked.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9768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converges in 3–5 epochs; validation MRR tracks it — no overfitting.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2157984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SYSTEMS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Rejection, robustness, and the right index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288536" y="1910439"/>
            <a:ext cx="4636008" cy="198556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pic>
        <p:nvPicPr>
          <p:cNvPr id="7" name="Image 0" descr="C:\Users\dimit\Desktop\GEORGAML\ToolFinder\experiments\results\figures\fig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303"/>
            <a:ext cx="4526280" cy="18758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508760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9" name="Shape 6"/>
          <p:cNvSpPr/>
          <p:nvPr/>
        </p:nvSpPr>
        <p:spPr>
          <a:xfrm>
            <a:off x="640080" y="1508760"/>
            <a:ext cx="64008" cy="123444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0" name="Text 7"/>
          <p:cNvSpPr/>
          <p:nvPr/>
        </p:nvSpPr>
        <p:spPr>
          <a:xfrm>
            <a:off x="804672" y="161848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87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0.99 ROC-AUC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04672" y="21854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rejection (fine-tuned encoder)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2852928"/>
            <a:ext cx="3383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3" name="Shape 10"/>
          <p:cNvSpPr/>
          <p:nvPr/>
        </p:nvSpPr>
        <p:spPr>
          <a:xfrm>
            <a:off x="640080" y="2852928"/>
            <a:ext cx="64008" cy="123444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4" name="Text 11"/>
          <p:cNvSpPr/>
          <p:nvPr/>
        </p:nvSpPr>
        <p:spPr>
          <a:xfrm>
            <a:off x="804672" y="296265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181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 vs 83%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04672" y="3529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poisoning hijack: fine-tuned vs BM25 (fine-tuning is the defense)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343400" y="41148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encoding (~86 ms CPU) dominates routing latency, so exact Flat is the right default; HNSW only cuts search time beyond ~10³ tools, at a recall cost.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4878A8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Shape 1"/>
          <p:cNvSpPr/>
          <p:nvPr/>
        </p:nvSpPr>
        <p:spPr>
          <a:xfrm>
            <a:off x="502920" y="384048"/>
            <a:ext cx="2080260" cy="310896"/>
          </a:xfrm>
          <a:prstGeom prst="roundRect">
            <a:avLst>
              <a:gd name="adj" fmla="val 14706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5488" y="76809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 — reported, not hidden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hurts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938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degrades Model A (0.944 vs 0.988) at ~140× the per-query cost — a stronger retriever + weaker reranker.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51460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2" name="Text 10"/>
          <p:cNvSpPr/>
          <p:nvPr/>
        </p:nvSpPr>
        <p:spPr>
          <a:xfrm>
            <a:off x="777240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≠ 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8986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shipped router loads a zero-shot encoder; the fine-tuned weights that win are regenerable but not committed.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474720"/>
            <a:ext cx="5074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64008" cy="868680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16" name="Text 14"/>
          <p:cNvSpPr/>
          <p:nvPr/>
        </p:nvSpPr>
        <p:spPr>
          <a:xfrm>
            <a:off x="777240" y="3566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8587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follow a known grammar; no production traffic, single domain — disclosed as the data's ceiling.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554480"/>
            <a:ext cx="2880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l-GR"/>
          </a:p>
        </p:txBody>
      </p:sp>
      <p:graphicFrame>
        <p:nvGraphicFramePr>
          <p:cNvPr id="19" name="Chart 0"/>
          <p:cNvGraphicFramePr/>
          <p:nvPr/>
        </p:nvGraphicFramePr>
        <p:xfrm>
          <a:off x="5943600" y="1627632"/>
          <a:ext cx="2697480" cy="2542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7"/>
          <p:cNvSpPr/>
          <p:nvPr/>
        </p:nvSpPr>
        <p:spPr>
          <a:xfrm>
            <a:off x="5852160" y="427939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(B) sits below the bi-encoder (A) in every regime.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02920" y="47777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ToolFinder — Dense Retrieval for Open-Set MCP Tool Routing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321040" y="47777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1812C"/>
          </a:solidFill>
          <a:ln/>
        </p:spPr>
        <p:txBody>
          <a:bodyPr/>
          <a:lstStyle/>
          <a:p>
            <a:endParaRPr lang="el-GR"/>
          </a:p>
        </p:txBody>
      </p:sp>
      <p:sp>
        <p:nvSpPr>
          <p:cNvPr id="3" name="Text 1"/>
          <p:cNvSpPr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3716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fine-tuned bi-encoder solves MCP tool selection — and is itself the best poisoning defense and OOD rejector.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Fine-tuning, not model size, is the lever: 22M beats a frozen 109M encoder.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reported: reranking does not help at this scale; exact search beats HNSW at realistic sizes.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 — pinned seeds, CI-enforced split hygiene, run_all.py.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3703320"/>
            <a:ext cx="7680960" cy="868680"/>
          </a:xfrm>
          <a:prstGeom prst="rect">
            <a:avLst/>
          </a:prstGeom>
          <a:solidFill>
            <a:srgbClr val="12203D"/>
          </a:solidFill>
          <a:ln w="12700">
            <a:solidFill>
              <a:srgbClr val="4878A8"/>
            </a:solidFill>
            <a:prstDash val="solid"/>
          </a:ln>
        </p:spPr>
        <p:txBody>
          <a:bodyPr/>
          <a:lstStyle/>
          <a:p>
            <a:endParaRPr lang="el-GR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synthetic queries (known grammar), single </a:t>
            </a:r>
            <a:r>
              <a:rPr lang="en-US" sz="1200" i="1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domain.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7594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18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github.com/DimiChatzipavlis/ToolFinder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1052</Words>
  <Application>Microsoft Office PowerPoint</Application>
  <PresentationFormat>On-screen Show (16:9)</PresentationFormat>
  <Paragraphs>138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ToolFinder</dc:title>
  <dc:subject>PptxGenJS Presentation</dc:subject>
  <dc:creator>ToolFinder</dc:creator>
  <cp:lastModifiedBy>Dimitris Chatzipavlis</cp:lastModifiedBy>
  <cp:revision>4</cp:revision>
  <dcterms:created xsi:type="dcterms:W3CDTF">2026-06-13T14:25:38Z</dcterms:created>
  <dcterms:modified xsi:type="dcterms:W3CDTF">2026-06-13T15:05:09Z</dcterms:modified>
</cp:coreProperties>
</file>