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Model A (bi-encoder)</c:v>
                </c:pt>
              </c:strCache>
            </c:strRef>
          </c:tx>
          <c:spPr>
            <a:solidFill>
              <a:srgbClr val="4878A8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Regime 1</c:v>
                  </c:pt>
                  <c:pt idx="1">
                    <c:v>Regime 2</c:v>
                  </c:pt>
                  <c:pt idx="2">
                    <c:v>Regime 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0.988</c:v>
                </c:pt>
                <c:pt idx="1">
                  <c:v>0.909</c:v>
                </c:pt>
                <c:pt idx="2">
                  <c:v>0.667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Model B (+ rerank)</c:v>
                </c:pt>
              </c:strCache>
            </c:strRef>
          </c:tx>
          <c:spPr>
            <a:solidFill>
              <a:srgbClr val="E1812C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Regime 1</c:v>
                  </c:pt>
                  <c:pt idx="1">
                    <c:v>Regime 2</c:v>
                  </c:pt>
                  <c:pt idx="2">
                    <c:v>Regime 3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0.944</c:v>
                </c:pt>
                <c:pt idx="1">
                  <c:v>0.867</c:v>
                </c:pt>
                <c:pt idx="2">
                  <c:v>0.632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7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0.25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1E293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18872"/>
          </a:xfrm>
          <a:prstGeom prst="rect">
            <a:avLst/>
          </a:prstGeom>
          <a:solidFill>
            <a:srgbClr val="E1812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4628"/>
            <a:ext cx="9144000" cy="118872"/>
          </a:xfrm>
          <a:prstGeom prst="rect">
            <a:avLst/>
          </a:prstGeom>
          <a:solidFill>
            <a:srgbClr val="4878A8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41732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ToolFinder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31520" y="2395728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Retrieval for Open-Set MCP Tool Routing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852928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leakage-controlled benchmark and a trained two-model comparison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379476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Your name · Student ID · Course · Supervisor · Date ]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420624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181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github.com/DimiChatzipavlis/ToolFinder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4878A8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84048"/>
            <a:ext cx="1458468" cy="310896"/>
          </a:xfrm>
          <a:prstGeom prst="roundRect">
            <a:avLst>
              <a:gd name="adj" fmla="val 14706"/>
            </a:avLst>
          </a:prstGeom>
          <a:solidFill>
            <a:srgbClr val="1B2A4A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84048"/>
            <a:ext cx="14584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75488" y="768096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Tool selection is the bottleneck — and a safety boundary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40080" y="1554480"/>
            <a:ext cx="384048" cy="384048"/>
          </a:xfrm>
          <a:prstGeom prst="ellipse">
            <a:avLst/>
          </a:prstGeom>
          <a:solidFill>
            <a:srgbClr val="4878A8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" y="1655064"/>
            <a:ext cx="182880" cy="1828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88720" y="1536192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bloat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188720" y="184708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Binding every MCP schema fills the window before reasoning begins.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40080" y="2395728"/>
            <a:ext cx="384048" cy="384048"/>
          </a:xfrm>
          <a:prstGeom prst="ellipse">
            <a:avLst/>
          </a:prstGeom>
          <a:solidFill>
            <a:srgbClr val="4878A8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" y="2496312"/>
            <a:ext cx="182880" cy="1828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188720" y="2377440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in the middle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1188720" y="2688336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Similar APIs collide in-context, raising tool-selection errors.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40080" y="3236976"/>
            <a:ext cx="384048" cy="384048"/>
          </a:xfrm>
          <a:prstGeom prst="ellipse">
            <a:avLst/>
          </a:prstGeom>
          <a:solidFill>
            <a:srgbClr val="4878A8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" y="3337560"/>
            <a:ext cx="182880" cy="18288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188720" y="3218688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models break</a:t>
            </a:r>
            <a:endParaRPr lang="en-US" sz="1500" dirty="0"/>
          </a:p>
        </p:txBody>
      </p:sp>
      <p:sp>
        <p:nvSpPr>
          <p:cNvPr id="17" name="Text 12"/>
          <p:cNvSpPr/>
          <p:nvPr/>
        </p:nvSpPr>
        <p:spPr>
          <a:xfrm>
            <a:off x="1188720" y="3529584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3B local models emit malformed calls under long-prompt pressure.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5486400" y="1554480"/>
            <a:ext cx="3200400" cy="2331720"/>
          </a:xfrm>
          <a:prstGeom prst="rect">
            <a:avLst/>
          </a:prstGeom>
          <a:solidFill>
            <a:srgbClr val="1B2A4A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9" name="Text 14"/>
          <p:cNvSpPr/>
          <p:nvPr/>
        </p:nvSpPr>
        <p:spPr>
          <a:xfrm>
            <a:off x="5715000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 decides whether a local model can use a 500-tool catalog at all — and a wrong route to a destructive tool turns a retrieval error into a harmful action.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4114800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treat tool selection as open-set retrieval: unseen phrasings, unseen tools, new servers, out-of-scope requests, and adversarial descriptions.</a:t>
            </a:r>
            <a:endParaRPr lang="en-US" sz="1300" dirty="0"/>
          </a:p>
        </p:txBody>
      </p:sp>
      <p:sp>
        <p:nvSpPr>
          <p:cNvPr id="21" name="Text 16"/>
          <p:cNvSpPr/>
          <p:nvPr/>
        </p:nvSpPr>
        <p:spPr>
          <a:xfrm>
            <a:off x="502920" y="47777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ToolFinder — Dense Retrieval for Open-Set MCP Tool Routing</a:t>
            </a:r>
            <a:endParaRPr lang="en-US" sz="800" dirty="0"/>
          </a:p>
        </p:txBody>
      </p:sp>
      <p:sp>
        <p:nvSpPr>
          <p:cNvPr id="22" name="Text 17"/>
          <p:cNvSpPr/>
          <p:nvPr/>
        </p:nvSpPr>
        <p:spPr>
          <a:xfrm>
            <a:off x="8321040" y="47777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4878A8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84048"/>
            <a:ext cx="1847088" cy="310896"/>
          </a:xfrm>
          <a:prstGeom prst="roundRect">
            <a:avLst>
              <a:gd name="adj" fmla="val 14706"/>
            </a:avLst>
          </a:prstGeom>
          <a:solidFill>
            <a:srgbClr val="1B2A4A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84048"/>
            <a:ext cx="1847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WORK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75488" y="768096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add evaluation rigor, not a new architecture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40080" y="1508760"/>
            <a:ext cx="384048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508760"/>
            <a:ext cx="3840480" cy="457200"/>
          </a:xfrm>
          <a:prstGeom prst="rect">
            <a:avLst/>
          </a:prstGeom>
          <a:solidFill>
            <a:srgbClr val="4878A8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50876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USE / generation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103120"/>
            <a:ext cx="352044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MRKL — modular router framing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Gorilla — API-call gen + retriever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ToolLLM — 16k API tool use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Toolformer — self-supervised calls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63440" y="1508760"/>
            <a:ext cx="384048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508760"/>
            <a:ext cx="3840480" cy="457200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50876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SELECTION (shipped)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846320" y="2103120"/>
            <a:ext cx="352044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semantic-router (Aurelio Labs)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 tool retriever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LlamaIndex object retrievers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function-retrieval cookbook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3977640"/>
            <a:ext cx="8046720" cy="640080"/>
          </a:xfrm>
          <a:prstGeom prst="rect">
            <a:avLst/>
          </a:prstGeom>
          <a:solidFill>
            <a:srgbClr val="E1812C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397764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contribution is a leakage-controlled benchmark + a controlled comparison of what these ship as defaults — not architectural novelty.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02920" y="47777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ToolFinder — Dense Retrieval for Open-Set MCP Tool Routing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321040" y="47777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4878A8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84048"/>
            <a:ext cx="1613916" cy="310896"/>
          </a:xfrm>
          <a:prstGeom prst="roundRect">
            <a:avLst>
              <a:gd name="adj" fmla="val 14706"/>
            </a:avLst>
          </a:prstGeom>
          <a:solidFill>
            <a:srgbClr val="1B2A4A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84048"/>
            <a:ext cx="16139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75488" y="768096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benchmark — and why naive splits lie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4437555" y="1408176"/>
            <a:ext cx="4383690" cy="2852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pic>
        <p:nvPicPr>
          <p:cNvPr id="7" name="Image 0" descr="C:\Users\dimit\Desktop\GEORGAML\ToolFinder\experiments\results\figures\fig_leakage_aud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92419" y="1463040"/>
            <a:ext cx="4273962" cy="27432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1508760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487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1,695</a:t>
            </a:r>
            <a:endParaRPr lang="en-US" sz="30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real intents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2468880" y="150876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487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574</a:t>
            </a:r>
            <a:endParaRPr lang="en-US" sz="30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real tool schemas</a:t>
            </a:r>
            <a:endParaRPr lang="en-US" sz="3000" dirty="0"/>
          </a:p>
        </p:txBody>
      </p:sp>
      <p:sp>
        <p:nvSpPr>
          <p:cNvPr id="10" name="Shape 7"/>
          <p:cNvSpPr/>
          <p:nvPr/>
        </p:nvSpPr>
        <p:spPr>
          <a:xfrm>
            <a:off x="640080" y="2514600"/>
            <a:ext cx="3566160" cy="1737360"/>
          </a:xfrm>
          <a:prstGeom prst="rect">
            <a:avLst/>
          </a:prstGeom>
          <a:solidFill>
            <a:srgbClr val="1B2A4A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822960" y="2697480"/>
            <a:ext cx="3200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E181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96% Recall@1</a:t>
            </a:r>
            <a:endParaRPr lang="en-US" sz="22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from a 1-NN lookup over training queries alone — no model, no schema.</a:t>
            </a:r>
            <a:endParaRPr lang="en-US" sz="2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CADCFC"/>
                </a:solidFill>
              </a:rPr>
              <a:t>The original random split answered itself.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4480560" y="429768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Queries follow a scenario×template grammar; random row splits scatter paraphrases across train/test.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502920" y="47777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ToolFinder — Dense Retrieval for Open-Set MCP Tool Routing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8321040" y="47777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4878A8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84048"/>
            <a:ext cx="1380744" cy="310896"/>
          </a:xfrm>
          <a:prstGeom prst="roundRect">
            <a:avLst>
              <a:gd name="adj" fmla="val 14706"/>
            </a:avLst>
          </a:prstGeom>
          <a:solidFill>
            <a:srgbClr val="1B2A4A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84048"/>
            <a:ext cx="13807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75488" y="768096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Leakage-controlled evaluation, enforced in CI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40080" y="1554480"/>
            <a:ext cx="384048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554480"/>
            <a:ext cx="73152" cy="1143000"/>
          </a:xfrm>
          <a:prstGeom prst="rect">
            <a:avLst/>
          </a:prstGeom>
          <a:solidFill>
            <a:srgbClr val="4878A8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66420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87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Regime 1  </a:t>
            </a:r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</a:rPr>
              <a:t>Unseen queries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" y="2057400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Scenario-grouped split (in-grammar upper bound)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754880" y="1554480"/>
            <a:ext cx="384048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80" y="1554480"/>
            <a:ext cx="73152" cy="1143000"/>
          </a:xfrm>
          <a:prstGeom prst="rect">
            <a:avLst/>
          </a:prstGeom>
          <a:solidFill>
            <a:srgbClr val="E1812C"/>
          </a:solidFill>
          <a:ln/>
        </p:spPr>
      </p:sp>
      <p:sp>
        <p:nvSpPr>
          <p:cNvPr id="12" name="Text 10"/>
          <p:cNvSpPr/>
          <p:nvPr/>
        </p:nvSpPr>
        <p:spPr>
          <a:xfrm>
            <a:off x="4937760" y="166420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181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Regime 1b  </a:t>
            </a:r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</a:rPr>
              <a:t>Template-disjoint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937760" y="2057400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 AND scenarios held out — the real control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2880360"/>
            <a:ext cx="384048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0080" y="2880360"/>
            <a:ext cx="73152" cy="1143000"/>
          </a:xfrm>
          <a:prstGeom prst="rect">
            <a:avLst/>
          </a:prstGeom>
          <a:solidFill>
            <a:srgbClr val="4878A8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299008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87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Regime 2  </a:t>
            </a:r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</a:rPr>
              <a:t>Unseen tools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22960" y="3383280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tools never trained on; ranked vs full catalog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754880" y="2880360"/>
            <a:ext cx="384048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54880" y="2880360"/>
            <a:ext cx="73152" cy="1143000"/>
          </a:xfrm>
          <a:prstGeom prst="rect">
            <a:avLst/>
          </a:prstGeom>
          <a:solidFill>
            <a:srgbClr val="4878A8"/>
          </a:solidFill>
          <a:ln/>
        </p:spPr>
      </p:sp>
      <p:sp>
        <p:nvSpPr>
          <p:cNvPr id="20" name="Text 18"/>
          <p:cNvSpPr/>
          <p:nvPr/>
        </p:nvSpPr>
        <p:spPr>
          <a:xfrm>
            <a:off x="4937760" y="299008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87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Regime 3  </a:t>
            </a:r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</a:rPr>
              <a:t>Unseen servers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937760" y="3383280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195 queries, 574-tool corpus; training stays GitHub-only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40080" y="42976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hygiene is a failing CI test (tests/test_split_hygiene.py) — no scenario, template, or tool may cross buckets.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02920" y="47777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ToolFinder — Dense Retrieval for Open-Set MCP Tool Routing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321040" y="47777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4878A8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84048"/>
            <a:ext cx="1924812" cy="310896"/>
          </a:xfrm>
          <a:prstGeom prst="roundRect">
            <a:avLst>
              <a:gd name="adj" fmla="val 14706"/>
            </a:avLst>
          </a:prstGeom>
          <a:solidFill>
            <a:srgbClr val="1B2A4A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84048"/>
            <a:ext cx="19248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LEARNING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75488" y="768096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trained architectures, compared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40080" y="1508760"/>
            <a:ext cx="384048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508760"/>
            <a:ext cx="3840480" cy="566928"/>
          </a:xfrm>
          <a:prstGeom prst="rect">
            <a:avLst/>
          </a:prstGeom>
          <a:solidFill>
            <a:srgbClr val="4878A8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508760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MODEL A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Bi-encoder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41248" y="2240280"/>
            <a:ext cx="3474720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MiniLM-L6 (22M), MNRL loss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No-duplicates batch sampler (fixes in-batch false negatives)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Encodes query + schema independently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 / MPNet trained as capacity ablation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63440" y="1508760"/>
            <a:ext cx="384048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508760"/>
            <a:ext cx="3840480" cy="566928"/>
          </a:xfrm>
          <a:prstGeom prst="rect">
            <a:avLst/>
          </a:prstGeom>
          <a:solidFill>
            <a:srgbClr val="E1812C"/>
          </a:solidFill>
          <a:ln/>
        </p:spPr>
      </p:sp>
      <p:sp>
        <p:nvSpPr>
          <p:cNvPr id="12" name="Text 10"/>
          <p:cNvSpPr/>
          <p:nvPr/>
        </p:nvSpPr>
        <p:spPr>
          <a:xfrm>
            <a:off x="4846320" y="1508760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MODEL B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Cross-encoder reranker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64608" y="2240280"/>
            <a:ext cx="3474720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ms-marco-MiniLM-L6 (22M), BCE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positive : 4 mined hard negatives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 cross-attention over (query, schema)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Reranks bi-encoder top-10 — 10 passes/query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0080" y="42976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seeds {13, 42, 1337} · selection on validation MRR@10 · same evaluation code path for every system.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02920" y="47777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ToolFinder — Dense Retrieval for Open-Set MCP Tool Routing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321040" y="47777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4878A8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84048"/>
            <a:ext cx="1458468" cy="310896"/>
          </a:xfrm>
          <a:prstGeom prst="roundRect">
            <a:avLst>
              <a:gd name="adj" fmla="val 14706"/>
            </a:avLst>
          </a:prstGeom>
          <a:solidFill>
            <a:srgbClr val="1B2A4A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84048"/>
            <a:ext cx="14584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75488" y="768096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Fine-tuning dominates every regime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85216" y="1680564"/>
            <a:ext cx="5184648" cy="2344727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pic>
        <p:nvPicPr>
          <p:cNvPr id="7" name="Image 0" descr="C:\Users\dimit\Desktop\GEORGAML\ToolFinder\experiments\results\figures\fig_main_resul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735428"/>
            <a:ext cx="5074920" cy="2234999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943600" y="1481328"/>
            <a:ext cx="274320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943600" y="1481328"/>
            <a:ext cx="64008" cy="1234440"/>
          </a:xfrm>
          <a:prstGeom prst="rect">
            <a:avLst/>
          </a:prstGeom>
          <a:solidFill>
            <a:srgbClr val="E1812C"/>
          </a:solidFill>
          <a:ln/>
        </p:spPr>
      </p:sp>
      <p:sp>
        <p:nvSpPr>
          <p:cNvPr id="10" name="Text 7"/>
          <p:cNvSpPr/>
          <p:nvPr/>
        </p:nvSpPr>
        <p:spPr>
          <a:xfrm>
            <a:off x="6108192" y="1591056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181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+0.42 R@1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6108192" y="215798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 MiniLM over BM25, regime 1 (p ≤ 0.0001)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943600" y="2852928"/>
            <a:ext cx="274320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5943600" y="2852928"/>
            <a:ext cx="64008" cy="1234440"/>
          </a:xfrm>
          <a:prstGeom prst="rect">
            <a:avLst/>
          </a:prstGeom>
          <a:solidFill>
            <a:srgbClr val="4878A8"/>
          </a:solidFill>
          <a:ln/>
        </p:spPr>
      </p:sp>
      <p:sp>
        <p:nvSpPr>
          <p:cNvPr id="14" name="Text 11"/>
          <p:cNvSpPr/>
          <p:nvPr/>
        </p:nvSpPr>
        <p:spPr>
          <a:xfrm>
            <a:off x="6108192" y="2962656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87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0.33 → 0.99</a:t>
            </a:r>
            <a:endParaRPr lang="en-US" sz="3000" dirty="0"/>
          </a:p>
        </p:txBody>
      </p:sp>
      <p:sp>
        <p:nvSpPr>
          <p:cNvPr id="15" name="Text 12"/>
          <p:cNvSpPr/>
          <p:nvPr/>
        </p:nvSpPr>
        <p:spPr>
          <a:xfrm>
            <a:off x="6108192" y="352958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frozen → fine-tuned MiniLM R@1 (capacity ≪ training)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40080" y="4315968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0.99 / 0.91 / 0.67 R@1 across regimes 1/2/3 vs 0.57 / 0.76 / 0.49 for BM25. Frozen MiniLM (0.33) loses to BM25.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502920" y="47777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ToolFinder — Dense Retrieval for Open-Set MCP Tool Routing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8321040" y="47777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4878A8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84048"/>
            <a:ext cx="1303020" cy="310896"/>
          </a:xfrm>
          <a:prstGeom prst="roundRect">
            <a:avLst>
              <a:gd name="adj" fmla="val 14706"/>
            </a:avLst>
          </a:prstGeom>
          <a:solidFill>
            <a:srgbClr val="1B2A4A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84048"/>
            <a:ext cx="13030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RIGOR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75488" y="768096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result survives the leakage control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4242816" y="1898836"/>
            <a:ext cx="4681728" cy="205448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pic>
        <p:nvPicPr>
          <p:cNvPr id="7" name="Image 0" descr="C:\Users\dimit\Desktop\GEORGAML\ToolFinder\experiments\results\figures\fig_loss_curv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97680" y="1953700"/>
            <a:ext cx="4572000" cy="1944761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40080" y="1554480"/>
            <a:ext cx="32918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40080" y="1554480"/>
            <a:ext cx="64008" cy="1234440"/>
          </a:xfrm>
          <a:prstGeom prst="rect">
            <a:avLst/>
          </a:prstGeom>
          <a:solidFill>
            <a:srgbClr val="4878A8"/>
          </a:solidFill>
          <a:ln/>
        </p:spPr>
      </p:sp>
      <p:sp>
        <p:nvSpPr>
          <p:cNvPr id="10" name="Text 7"/>
          <p:cNvSpPr/>
          <p:nvPr/>
        </p:nvSpPr>
        <p:spPr>
          <a:xfrm>
            <a:off x="804672" y="1664208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87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0.958 vs 0.650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804672" y="2231136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 MiniLM vs 1-NN leakage probe on the template-disjoint split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2926080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Regime 1's 1.000 was an in-grammar upper bound.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Retraining on regime 1b (templates + scenarios both unseen) still gives 0.958 — the win is real, not leaked.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297680" y="4160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converges in 3–5 epochs; validation MRR tracks it — no overfitting.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02920" y="47777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ToolFinder — Dense Retrieval for Open-Set MCP Tool Routing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8321040" y="47777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4878A8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84048"/>
            <a:ext cx="2157984" cy="310896"/>
          </a:xfrm>
          <a:prstGeom prst="roundRect">
            <a:avLst>
              <a:gd name="adj" fmla="val 14706"/>
            </a:avLst>
          </a:prstGeom>
          <a:solidFill>
            <a:srgbClr val="1B2A4A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84048"/>
            <a:ext cx="2157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&amp; SYSTEMS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75488" y="768096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Rejection, robustness, and the right index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4288536" y="1910439"/>
            <a:ext cx="4636008" cy="198556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pic>
        <p:nvPicPr>
          <p:cNvPr id="7" name="Image 0" descr="C:\Users\dimit\Desktop\GEORGAML\ToolFinder\experiments\results\figures\fig_scal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43400" y="1965303"/>
            <a:ext cx="4526280" cy="187583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40080" y="1508760"/>
            <a:ext cx="338328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40080" y="1508760"/>
            <a:ext cx="64008" cy="1234440"/>
          </a:xfrm>
          <a:prstGeom prst="rect">
            <a:avLst/>
          </a:prstGeom>
          <a:solidFill>
            <a:srgbClr val="4878A8"/>
          </a:solidFill>
          <a:ln/>
        </p:spPr>
      </p:sp>
      <p:sp>
        <p:nvSpPr>
          <p:cNvPr id="10" name="Text 7"/>
          <p:cNvSpPr/>
          <p:nvPr/>
        </p:nvSpPr>
        <p:spPr>
          <a:xfrm>
            <a:off x="804672" y="1618488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87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0.99 ROC-AUC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804672" y="2185416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out-of-scope rejection (fine-tuned encoder)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40080" y="2852928"/>
            <a:ext cx="338328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40080" y="2852928"/>
            <a:ext cx="64008" cy="1234440"/>
          </a:xfrm>
          <a:prstGeom prst="rect">
            <a:avLst/>
          </a:prstGeom>
          <a:solidFill>
            <a:srgbClr val="E1812C"/>
          </a:solidFill>
          <a:ln/>
        </p:spPr>
      </p:sp>
      <p:sp>
        <p:nvSpPr>
          <p:cNvPr id="14" name="Text 11"/>
          <p:cNvSpPr/>
          <p:nvPr/>
        </p:nvSpPr>
        <p:spPr>
          <a:xfrm>
            <a:off x="804672" y="2962656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181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0% vs 83%</a:t>
            </a:r>
            <a:endParaRPr lang="en-US" sz="3000" dirty="0"/>
          </a:p>
        </p:txBody>
      </p:sp>
      <p:sp>
        <p:nvSpPr>
          <p:cNvPr id="15" name="Text 12"/>
          <p:cNvSpPr/>
          <p:nvPr/>
        </p:nvSpPr>
        <p:spPr>
          <a:xfrm>
            <a:off x="804672" y="352958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poisoning hijack: fine-tuned vs BM25 (fine-tuning is the defense)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4343400" y="4114800"/>
            <a:ext cx="4526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encoding (~86 ms CPU) dominates routing latency, so exact Flat is the right default; HNSW only cuts search time beyond ~10³ tools, at a recall cost.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02920" y="47777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ToolFinder — Dense Retrieval for Open-Set MCP Tool Routing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8321040" y="47777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4878A8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84048"/>
            <a:ext cx="2080260" cy="310896"/>
          </a:xfrm>
          <a:prstGeom prst="roundRect">
            <a:avLst>
              <a:gd name="adj" fmla="val 14706"/>
            </a:avLst>
          </a:prstGeom>
          <a:solidFill>
            <a:srgbClr val="1B2A4A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84048"/>
            <a:ext cx="20802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FINDINGS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75488" y="768096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did not work — reported, not hidden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40080" y="1554480"/>
            <a:ext cx="50749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554480"/>
            <a:ext cx="64008" cy="868680"/>
          </a:xfrm>
          <a:prstGeom prst="rect">
            <a:avLst/>
          </a:prstGeom>
          <a:solidFill>
            <a:srgbClr val="E1812C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64592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Reranking hurts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77240" y="193852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B degrades Model A (0.944 vs 0.988) at ~140× the per-query cost — a stronger retriever + weaker reranker.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40080" y="2514600"/>
            <a:ext cx="50749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0080" y="2514600"/>
            <a:ext cx="64008" cy="868680"/>
          </a:xfrm>
          <a:prstGeom prst="rect">
            <a:avLst/>
          </a:prstGeom>
          <a:solidFill>
            <a:srgbClr val="E1812C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26060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≠ best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77240" y="289864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shipped router loads a zero-shot encoder; the fine-tuned weights that win are regenerable but not committed.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40080" y="3474720"/>
            <a:ext cx="50749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0080" y="3474720"/>
            <a:ext cx="64008" cy="868680"/>
          </a:xfrm>
          <a:prstGeom prst="rect">
            <a:avLst/>
          </a:prstGeom>
          <a:solidFill>
            <a:srgbClr val="E1812C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356616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data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77240" y="385876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queries follow a known grammar; no production traffic, single domain — disclosed as the data's ceiling.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852160" y="1554480"/>
            <a:ext cx="288036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graphicFrame>
        <p:nvGraphicFramePr>
          <p:cNvPr id="19" name="Chart 0" descr=""/>
          <p:cNvGraphicFramePr/>
          <p:nvPr/>
        </p:nvGraphicFramePr>
        <p:xfrm>
          <a:off x="5943600" y="1627632"/>
          <a:ext cx="2697480" cy="254203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0" name="Text 17"/>
          <p:cNvSpPr/>
          <p:nvPr/>
        </p:nvSpPr>
        <p:spPr>
          <a:xfrm>
            <a:off x="5852160" y="4279392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Reranking (B) sits below the bi-encoder (A) in every regime.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502920" y="47777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ToolFinder — Dense Retrieval for Open-Set MCP Tool Routing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8321040" y="47777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18872"/>
          </a:xfrm>
          <a:prstGeom prst="rect">
            <a:avLst/>
          </a:prstGeom>
          <a:solidFill>
            <a:srgbClr val="E1812C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50292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77240" y="1371600"/>
            <a:ext cx="77724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fine-tuned bi-encoder solves MCP tool selection — and is itself the best poisoning defense and OOD rejector.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Fine-tuning, not model size, is the lever: 22M beats a frozen 109M encoder.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results reported: reranking does not help at this scale; exact search beats HNSW at realistic sizes.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reproducible — pinned seeds, CI-enforced split hygiene, run_all.py.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31520" y="3703320"/>
            <a:ext cx="7680960" cy="868680"/>
          </a:xfrm>
          <a:prstGeom prst="rect">
            <a:avLst/>
          </a:prstGeom>
          <a:solidFill>
            <a:srgbClr val="12203D"/>
          </a:solidFill>
          <a:ln w="12700">
            <a:solidFill>
              <a:srgbClr val="4878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3703320"/>
            <a:ext cx="7315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Limitations: synthetic queries (known grammar), single training domain, LLM-in-context arm not run (environment-blocked). All disclosed; none inflate the reported numbers.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" y="4759452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181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github.com/DimiChatzipavlis/ToolFinder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ToolFinder</dc:title>
  <dc:subject>PptxGenJS Presentation</dc:subject>
  <dc:creator>ToolFinder</dc:creator>
  <cp:lastModifiedBy>ToolFinder</cp:lastModifiedBy>
  <cp:revision>1</cp:revision>
  <dcterms:created xsi:type="dcterms:W3CDTF">2026-06-13T13:26:50Z</dcterms:created>
  <dcterms:modified xsi:type="dcterms:W3CDTF">2026-06-13T13:26:50Z</dcterms:modified>
</cp:coreProperties>
</file>